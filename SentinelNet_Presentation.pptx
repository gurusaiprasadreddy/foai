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_17904464073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E5FF"/>
                </a:solidFill>
                <a:latin typeface="Calibri Light"/>
              </a:defRPr>
            </a:pPr>
            <a:r>
              <a:t>SENTINELNET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 Light"/>
              </a:defRPr>
            </a:pPr>
            <a:r>
              <a:t>Multi-Agent Adversarial Network Defense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0175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CCDD"/>
                </a:solidFill>
                <a:latin typeface="Calibri"/>
              </a:defRPr>
            </a:pPr>
            <a:r>
              <a:t>Foundations of Artificial Intelligence  •  Case Study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Calibri"/>
              </a:defRPr>
            </a:pPr>
            <a:r>
              <a:t>A* Search  |  Bayesian Inference  |  Minimax + Alpha-Beta  |  CSP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FF"/>
                </a:solidFill>
                <a:latin typeface="Calibri Light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371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Problem Statement &amp;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647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PEAS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579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5798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Network Environment &amp;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5117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55117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Red Agent — A*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443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443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Blue Agent 1 — Bayesian Belief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3375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Blue Agent 2 — Minimax / Alpha-Beta / Expectimax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307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7307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Blue Agent 3 — CSP Patch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2394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12394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Multi-Agent Coordination (Message Bus)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1713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51713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Simulation Loop &amp;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103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9103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Demo Scenarios &amp;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035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3035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Results &amp;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967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6967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Code Structure &amp; 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08990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5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608990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E5FF"/>
                </a:solidFill>
                <a:latin typeface="Calibri Light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  <a:p>
            <a:pPr>
              <a:spcBef>
                <a:spcPts val="400"/>
              </a:spcBef>
              <a:defRPr sz="1500">
                <a:solidFill>
                  <a:srgbClr val="BBCCDD"/>
                </a:solidFill>
                <a:latin typeface="Calibri"/>
              </a:defRPr>
            </a:pPr>
            <a:r>
              <a:t>Enterprise networks face persistent, evolving cyber threats</a:t>
            </a:r>
          </a:p>
          <a:p>
            <a:pPr>
              <a:spcBef>
                <a:spcPts val="400"/>
              </a:spcBef>
              <a:defRPr sz="1500">
                <a:solidFill>
                  <a:srgbClr val="BBCCDD"/>
                </a:solidFill>
                <a:latin typeface="Calibri"/>
              </a:defRPr>
            </a:pPr>
            <a:r>
              <a:t>Attackers use sophisticated pathfinding to reach critical assets</a:t>
            </a:r>
          </a:p>
          <a:p>
            <a:pPr>
              <a:spcBef>
                <a:spcPts val="400"/>
              </a:spcBef>
              <a:defRPr sz="1500">
                <a:solidFill>
                  <a:srgbClr val="BBCCDD"/>
                </a:solidFill>
                <a:latin typeface="Calibri"/>
              </a:defRPr>
            </a:pPr>
            <a:r>
              <a:t>Defenders must detect, respond, and patch under uncertainty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00E696"/>
                </a:solidFill>
                <a:latin typeface="Calibri"/>
              </a:defRPr>
            </a:pPr>
            <a:r>
              <a:t>Our Solution: SentinelNet</a:t>
            </a:r>
          </a:p>
          <a:p>
            <a:pPr>
              <a:spcBef>
                <a:spcPts val="400"/>
              </a:spcBef>
              <a:defRPr sz="1500">
                <a:solidFill>
                  <a:srgbClr val="BBCCDD"/>
                </a:solidFill>
                <a:latin typeface="Calibri"/>
              </a:defRPr>
            </a:pPr>
            <a:r>
              <a:t>Abstract simulation — no real exploits or scanning</a:t>
            </a:r>
          </a:p>
          <a:p>
            <a:pPr>
              <a:spcBef>
                <a:spcPts val="400"/>
              </a:spcBef>
              <a:defRPr sz="1500">
                <a:solidFill>
                  <a:srgbClr val="BBCCDD"/>
                </a:solidFill>
                <a:latin typeface="Calibri"/>
              </a:defRPr>
            </a:pPr>
            <a:r>
              <a:t>Red Agent (attacker) vs Blue Team (3 defender agents)</a:t>
            </a:r>
          </a:p>
          <a:p>
            <a:pPr>
              <a:spcBef>
                <a:spcPts val="400"/>
              </a:spcBef>
              <a:defRPr sz="1500">
                <a:solidFill>
                  <a:srgbClr val="BBCCDD"/>
                </a:solidFill>
                <a:latin typeface="Calibri"/>
              </a:defRPr>
            </a:pPr>
            <a:r>
              <a:t>Tick-by-tick adversarial game on a directed graph network</a:t>
            </a:r>
          </a:p>
          <a:p>
            <a:pPr>
              <a:spcBef>
                <a:spcPts val="400"/>
              </a:spcBef>
              <a:defRPr sz="1500">
                <a:solidFill>
                  <a:srgbClr val="BBCCDD"/>
                </a:solidFill>
                <a:latin typeface="Calibri"/>
              </a:defRPr>
            </a:pPr>
            <a:r>
              <a:t>4 distinct AI algorithms, each justified by problem features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FFD600"/>
                </a:solidFill>
                <a:latin typeface="Calibri"/>
              </a:defRPr>
            </a:pPr>
            <a:r>
              <a:t>Key Question</a:t>
            </a:r>
          </a:p>
          <a:p>
            <a:pPr>
              <a:spcBef>
                <a:spcPts val="400"/>
              </a:spcBef>
              <a:defRPr sz="1500">
                <a:solidFill>
                  <a:srgbClr val="BBCCDD"/>
                </a:solidFill>
                <a:latin typeface="Calibri"/>
              </a:defRPr>
            </a:pPr>
            <a:r>
              <a:t>Can coordinated AI defenders protect a crown jewel asset</a:t>
            </a:r>
          </a:p>
          <a:p>
            <a:pPr>
              <a:spcBef>
                <a:spcPts val="400"/>
              </a:spcBef>
              <a:defRPr sz="1500">
                <a:solidFill>
                  <a:srgbClr val="BBCCDD"/>
                </a:solidFill>
                <a:latin typeface="Calibri"/>
              </a:defRPr>
            </a:pPr>
            <a:r>
              <a:t>against an intelligent attacker under partial observability?</a:t>
            </a:r>
          </a:p>
        </p:txBody>
      </p:sp>
      <p:pic>
        <p:nvPicPr>
          <p:cNvPr id="5" name="Picture 4" descr="network_topology_17904464186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80160"/>
            <a:ext cx="4754880" cy="2651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4206240"/>
            <a:ext cx="4754880" cy="22860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429768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alibri"/>
              </a:defRPr>
            </a:pPr>
            <a:r>
              <a:t>Rubric Coverage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PEAS Formulation — 3 Marks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Environment &amp; Agent Analysis — 3 Marks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Algorithmic Modeling — 3 Marks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Tool/Package Selection — 3 Marks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Multi-Agent Interaction — 3 Marks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Demo &amp; Testing — 3 Marks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Code Structure &amp; Scalability — 1+1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E5FF"/>
                </a:solidFill>
                <a:latin typeface="Calibri Light"/>
              </a:defRPr>
            </a:pPr>
            <a:r>
              <a:t>PEAS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468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P — Performance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Uptime fraction (% nodes operational)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Compromise value (weighted severity)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Time-to-Detection (TTD in ticks)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Response cost (actions expended)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Utility = 10·uptime − 5·comp − 0.5·cost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2468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8BFF"/>
                </a:solidFill>
                <a:latin typeface="Calibri"/>
              </a:defRPr>
            </a:pPr>
            <a:r>
              <a:t>E — Environment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Directed graph: 20–500 nodes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Partially Observable (noisy IDS alerts)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Stochastic (exploit probability = vuln_score)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Dynamic (Red moves each tick)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Competitive (Red vs Blue) + Cooperative (Blue team)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303520" cy="2468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Calibri"/>
              </a:defRPr>
            </a:pPr>
            <a:r>
              <a:t>A — Actuators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ISOLATE — disconnect node from graph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PATCH — reduce vuln_score to near zero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RESTORE — bring isolated node back online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Red: MOVE + EXPLOIT along graph edges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23360"/>
            <a:ext cx="5303520" cy="2468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S — Sensors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IDS alerts (noisy, probabilistic)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detection_rate: P(alert | Red present)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false_alarm_rate: P(alert | Red absent)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Node state queries (after action)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Belief distribution (Monitor output)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E5FF"/>
                </a:solidFill>
                <a:latin typeface="Calibri Light"/>
              </a:defRPr>
            </a:pPr>
            <a:r>
              <a:t>ENVIRONMENT &amp; NETWORK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twork_topology_17904464186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4297680" cy="50292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FF"/>
                </a:solidFill>
                <a:latin typeface="Calibri"/>
              </a:defRPr>
            </a:pPr>
            <a:r>
              <a:t>Environment Properties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00E696"/>
                </a:solidFill>
                <a:latin typeface="Calibri"/>
              </a:defRPr>
            </a:pPr>
            <a:r>
              <a:t>▸ Partially Observable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Blue sees noisy IDS alerts, not Red's true location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00E696"/>
                </a:solidFill>
                <a:latin typeface="Calibri"/>
              </a:defRPr>
            </a:pPr>
            <a:r>
              <a:t>▸ Stochastic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Exploit success = vuln_score probability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00E696"/>
                </a:solidFill>
                <a:latin typeface="Calibri"/>
              </a:defRPr>
            </a:pPr>
            <a:r>
              <a:t>▸ Sequential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Tick-by-tick decisions affect future state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00E696"/>
                </a:solidFill>
                <a:latin typeface="Calibri"/>
              </a:defRPr>
            </a:pPr>
            <a:r>
              <a:t>▸ Dynamic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Red moves independently each tick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00E696"/>
                </a:solidFill>
                <a:latin typeface="Calibri"/>
              </a:defRPr>
            </a:pPr>
            <a:r>
              <a:t>▸ Multi-Agent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Red (competitive) + Blue team (cooperative)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00E696"/>
                </a:solidFill>
                <a:latin typeface="Calibri"/>
              </a:defRPr>
            </a:pPr>
            <a:r>
              <a:t>▸ Discrete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Finite nodes, edges, and action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DD"/>
                </a:solidFill>
                <a:latin typeface="Calibri"/>
              </a:defRPr>
            </a:pPr>
            <a:r>
              <a:t>🟢 Safe    🟡 Suspected    🔴 Compromised    ⚪ Isolated    🔵 Patching    🟣 Honeypot    🎯 Crown Jewel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4D6A"/>
                </a:solidFill>
                <a:latin typeface="Calibri Light"/>
              </a:defRPr>
            </a:pPr>
            <a:r>
              <a:t>RED AGENT — A*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star_search_17904464303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6692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 the Attacker Works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BBCCDD"/>
                </a:solidFill>
                <a:latin typeface="Calibri"/>
              </a:defRPr>
            </a:pPr>
            <a:r>
              <a:t>Goal: Reach the Crown Jewel node via the cheapest path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5FF"/>
                </a:solidFill>
                <a:latin typeface="Calibri"/>
              </a:defRPr>
            </a:pPr>
            <a:r>
              <a:t>A* Evaluation Function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f(n) = g(n) + h(n)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g(n) — actual cost from entry to node n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h(n) — BFS-based heuristic (admissible, consistent)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5FF"/>
                </a:solidFill>
                <a:latin typeface="Calibri"/>
              </a:defRPr>
            </a:pPr>
            <a:r>
              <a:t>Key Behaviors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Each tick: move to next node on A* path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Exploit attempt: success probability = vuln_score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Dynamic Replanning: if Blue isolates a path node, Red replans from current position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5FF"/>
                </a:solidFill>
                <a:latin typeface="Calibri"/>
              </a:defRPr>
            </a:pPr>
            <a:r>
              <a:t>IDS Alert Generation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True alert: P(alert) = detection_rate when Red exploits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False alarm: P(alert) = false_alarm_rate on random clean nodes</a:t>
            </a:r>
          </a:p>
          <a:p>
            <a:pPr>
              <a:spcBef>
                <a:spcPts val="400"/>
              </a:spcBef>
              <a:defRPr sz="1400">
                <a:solidFill>
                  <a:srgbClr val="FFD600"/>
                </a:solidFill>
                <a:latin typeface="Calibri"/>
              </a:defRPr>
            </a:pPr>
            <a:r>
              <a:t>This noise is what makes the Monitor's job hard!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8BFF"/>
                </a:solidFill>
                <a:latin typeface="Calibri Light"/>
              </a:defRPr>
            </a:pPr>
            <a:r>
              <a:t>BLUE AGENT 1 — MONITOR (BAYESIAN BELIEF)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114800" cy="3810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yesian_belief_17904464573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94360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Belief Tracking Under Uncertainty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BBCCDD"/>
                </a:solidFill>
                <a:latin typeface="Calibri"/>
              </a:defRPr>
            </a:pPr>
            <a:r>
              <a:t>The Monitor never sees Red directly — only noisy IDS alerts.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5FF"/>
                </a:solidFill>
                <a:latin typeface="Calibri"/>
              </a:defRPr>
            </a:pPr>
            <a:r>
              <a:t>Step 1: Bayesian Update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P(Red at X | alert at X) ∝ detection_rate × prior(X)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P(Red at Y | alert at X) ∝ false_alarm_rate × prior(Y)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Normalize so all probabilities sum to 1.0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5FF"/>
                </a:solidFill>
                <a:latin typeface="Calibri"/>
              </a:defRPr>
            </a:pPr>
            <a:r>
              <a:t>Step 2: Spatial Diffusion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P(Red stays at current node) = 0.6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P(Red moves to neighbour) = 0.4 / N_neighbours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Models attacker movement between observations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696"/>
                </a:solidFill>
                <a:latin typeface="Calibri"/>
              </a:defRPr>
            </a:pPr>
            <a:r>
              <a:t>Output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Live 'heat map' of suspicion published to Message Bus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Top-5 most-suspected nodes shown in dashboard bar chart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Response agent reads belief to choose defensive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D8BFF"/>
                </a:solidFill>
                <a:latin typeface="Calibri Light"/>
              </a:defRPr>
            </a:pPr>
            <a:r>
              <a:t>BLUE AGENT 2 — RESPONSE (MINIMAX + EXPECTIMAX)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572000" cy="38100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inimax_tree_17904464708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94360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Game-Tree Decision Making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5FF"/>
                </a:solidFill>
                <a:latin typeface="Calibri"/>
              </a:defRPr>
            </a:pPr>
            <a:r>
              <a:t>Minimax with Alpha-Beta Pruning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2-player zero-sum game model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Blue (MAX): choose action maximizing utility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Red (MIN): assume worst-case attacker response</a:t>
            </a:r>
          </a:p>
          <a:p>
            <a:pPr>
              <a:spcBef>
                <a:spcPts val="400"/>
              </a:spcBef>
              <a:defRPr sz="1300">
                <a:solidFill>
                  <a:srgbClr val="00E696"/>
                </a:solidFill>
                <a:latin typeface="Calibri"/>
              </a:defRPr>
            </a:pPr>
            <a:r>
              <a:t>Alpha-Beta: prune branches → O(b^(d/2)) speedup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5FF"/>
                </a:solidFill>
                <a:latin typeface="Calibri"/>
              </a:defRPr>
            </a:pPr>
            <a:r>
              <a:t>Expectimax Enhancement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Replace MIN nodes with CHANCE nodes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E[val] = vuln × V(success) + (1-vuln) × V(failure)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More realistic — Red doesn't always succeed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600"/>
                </a:solidFill>
                <a:latin typeface="Calibri"/>
              </a:defRPr>
            </a:pPr>
            <a:r>
              <a:t>Utility Function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U = 10 × uptime − 5 × comp_value − 0.5 × cost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00E696"/>
                </a:solidFill>
                <a:latin typeface="Calibri"/>
              </a:defRPr>
            </a:pPr>
            <a:r>
              <a:t>Actions: ISOLATE  |  PATCH  | 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96"/>
                </a:solidFill>
                <a:latin typeface="Calibri Light"/>
              </a:defRPr>
            </a:pPr>
            <a:r>
              <a:t>BLUE AGENT 3 — CSP PATCH SCHEDULER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sp_scheduling_1790446485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94360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Long-Term Vulnerability Management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5FF"/>
                </a:solidFill>
                <a:latin typeface="Calibri"/>
              </a:defRPr>
            </a:pPr>
            <a:r>
              <a:t>CSP Formulation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Variables: patch jobs (one per vulnerable node)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Domains: available maintenance time slots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Constraints:</a:t>
            </a:r>
          </a:p>
          <a:p>
            <a:pPr lvl="1"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Maintenance window bounds</a:t>
            </a:r>
          </a:p>
          <a:p>
            <a:pPr lvl="1"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Dependency ordering: slot(A) &lt; slot(B)</a:t>
            </a:r>
          </a:p>
          <a:p>
            <a:pPr lvl="1"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AllDifferent: no two jobs share a technician slot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E5FF"/>
                </a:solidFill>
                <a:latin typeface="Calibri"/>
              </a:defRPr>
            </a:pPr>
            <a:r>
              <a:t>Solver Optimizations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MRV (Minimum Remaining Values): pick most constrained variable first → find conflicts early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Forward Checking: after assignment, prune remaining domains → avoid deep dead-ends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Backtracking: systematic exploration with early termination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FD600"/>
                </a:solidFill>
                <a:latin typeface="Calibri"/>
              </a:defRPr>
            </a:pPr>
            <a:r>
              <a:t>Execution: runs every 5 ticks, applies next patch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Calibri Light"/>
              </a:defRPr>
            </a:pPr>
            <a:r>
              <a:t>MULTI-AGENT COORDINATION — MESSAGE 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41148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3200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FF"/>
                </a:solidFill>
                <a:latin typeface="Calibri"/>
              </a:defRPr>
            </a:pPr>
            <a:r>
              <a:t>Blackboard Architecture — Pub/Sub Message Bus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Monitor  ──[belief]──→  Message Bus  ──[belief]──→  Response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CCDD"/>
                </a:solidFill>
                <a:latin typeface="Consolas"/>
              </a:defRPr>
            </a:pPr>
            <a:r>
              <a:t>                              ↑                          │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D600"/>
                </a:solidFill>
                <a:latin typeface="Consolas"/>
              </a:defRPr>
            </a:pPr>
            <a:r>
              <a:t>                         [alerts]                   [actions]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CCDD"/>
                </a:solidFill>
                <a:latin typeface="Consolas"/>
              </a:defRPr>
            </a:pPr>
            <a:r>
              <a:t>                              │                          ↓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F4D6A"/>
                </a:solidFill>
                <a:latin typeface="Consolas"/>
              </a:defRPr>
            </a:pPr>
            <a:r>
              <a:t>                           Red ────────────────→  Graph (Env)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BCCDD"/>
                </a:solidFill>
                <a:latin typeface="Consolas"/>
              </a:defRPr>
            </a:pPr>
            <a:r>
              <a:t>                                                        │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00E696"/>
                </a:solidFill>
                <a:latin typeface="Consolas"/>
              </a:defRPr>
            </a:pPr>
            <a:r>
              <a:t>  Scheduler ←──[pending_jobs]───────────────────────────┘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00E696"/>
                </a:solidFill>
                <a:latin typeface="Consolas"/>
              </a:defRPr>
            </a:pPr>
            <a:r>
              <a:t>      └──[patch_plan]──→ Message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265176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6A"/>
                </a:solidFill>
                <a:latin typeface="Calibri"/>
              </a:defRPr>
            </a:pPr>
            <a:r>
              <a:t>Topic: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IDS detection events from Red's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846320"/>
            <a:ext cx="265176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8BFF"/>
                </a:solidFill>
                <a:latin typeface="Calibri"/>
              </a:defRPr>
            </a:pPr>
            <a:r>
              <a:t>Topic: belief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349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Probability map over all nodes (from Monitor)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46320"/>
            <a:ext cx="265176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alibri"/>
              </a:defRPr>
            </a:pPr>
            <a:r>
              <a:t>Topic: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349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Defensive moves chosen by Response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846320"/>
            <a:ext cx="265176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4937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Topic: patch_plan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49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CSP schedule of upcoming patch 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Calibri Light"/>
              </a:defRPr>
            </a:pPr>
            <a:r>
              <a:t>SIMULATION LOOP &amp; LIVE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FF"/>
                </a:solidFill>
                <a:latin typeface="Calibri"/>
              </a:defRPr>
            </a:pPr>
            <a:r>
              <a:t>One Tick of the Simulation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F4D6A"/>
                </a:solidFill>
                <a:latin typeface="Consolas"/>
              </a:defRPr>
            </a:pPr>
            <a:r>
              <a:t>  1.  Red.step()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    Move via A*, attempt exploit, generate alerts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FD600"/>
                </a:solidFill>
                <a:latin typeface="Consolas"/>
              </a:defRPr>
            </a:pPr>
            <a:r>
              <a:t>  2.  bus.publish()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    Emit IDS detection events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3D8BFF"/>
                </a:solidFill>
                <a:latin typeface="Consolas"/>
              </a:defRPr>
            </a:pPr>
            <a:r>
              <a:t>  3.  Monitor.step()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    Bayesian update + diffusion → publish belief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3D8BFF"/>
                </a:solidFill>
                <a:latin typeface="Consolas"/>
              </a:defRPr>
            </a:pPr>
            <a:r>
              <a:t>  4.  Response.step()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    Minimax/Expectimax → dispatch defensive action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00E696"/>
                </a:solidFill>
                <a:latin typeface="Consolas"/>
              </a:defRPr>
            </a:pPr>
            <a:r>
              <a:t>  5.  Scheduler.step()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    Every 5 ticks: run CSP, apply next patch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BB86FC"/>
                </a:solidFill>
                <a:latin typeface="Consolas"/>
              </a:defRPr>
            </a:pPr>
            <a:r>
              <a:t>  6.  Logger.record()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    Save tick metrics (TTD, uptime, state)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BBCCDD"/>
                </a:solidFill>
                <a:latin typeface="Consolas"/>
              </a:defRPr>
            </a:pPr>
            <a:r>
              <a:t>  7.  Check termination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alibri"/>
              </a:defRPr>
            </a:pPr>
            <a:r>
              <a:t>       Crown jewel compromised? Red captured? Max ticks?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FF"/>
                </a:solidFill>
                <a:latin typeface="Calibri"/>
              </a:defRPr>
            </a:pPr>
            <a:r>
              <a:t>Streamlit Dashboard Layout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Left (60%)           Right (40%)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onsolas"/>
              </a:defRPr>
            </a:pPr>
            <a:r>
              <a:t> ┌──────────────┐    ┌──────────────────┐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onsolas"/>
              </a:defRPr>
            </a:pPr>
            <a:r>
              <a:t> │ Live Network │    │ 📊 Metrics Cards │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onsolas"/>
              </a:defRPr>
            </a:pPr>
            <a:r>
              <a:t> │ Graph (Pyvis)│    ├──────────────────┤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onsolas"/>
              </a:defRPr>
            </a:pPr>
            <a:r>
              <a:t> │              │    │ 🔍 Belief Chart  │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onsolas"/>
              </a:defRPr>
            </a:pPr>
            <a:r>
              <a:t> │ 🟢🟡🔴⚪🔵🟣│    ├──────────────────┤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onsolas"/>
              </a:defRPr>
            </a:pPr>
            <a:r>
              <a:t> │ 🎯 Red here  │    │ 📋 Action Log    │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CCDD"/>
                </a:solidFill>
                <a:latin typeface="Consolas"/>
              </a:defRPr>
            </a:pPr>
            <a:r>
              <a:t> └──────────────┘    └──────────────────┘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00E696"/>
                </a:solidFill>
                <a:latin typeface="Consolas"/>
              </a:defRPr>
            </a:pPr>
            <a:r>
              <a:t> [▶ Run] [⏸ Pause] [⏭ Step] [🔄 Reset]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Technologies: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Streamlit — interactive web UI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Pyvis — network graph visualization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Real-time metric cards + belief bar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E5FF"/>
                </a:solidFill>
                <a:latin typeface="Calibri Light"/>
              </a:defRPr>
            </a:pPr>
            <a:r>
              <a:t>DEMO SCENARIOS &amp;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2004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D6A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Naive Red vs Random Defender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4475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Crown jewel compromised fast — floor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600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Stealthy Attacker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detection_rate = 0.25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5059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Belief tracking still concentrates on 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56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Multi-Entry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Two Red entry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45643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Response must prioritize; one may slip through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8BFF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62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Resource-Starved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1 action per 2 ticks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46227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CSP scheduling becomes critical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681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468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20 → 100 → 500 nodes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6811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Watch nodes_expanded and wall-clock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✅  Test Suite: 57/57 Tests Passing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BBCCDD"/>
                </a:solidFill>
                <a:latin typeface="Calibri"/>
              </a:defRPr>
            </a:pPr>
            <a:r>
              <a:t>test_astar (8)  |  test_belief_tracking (11)  |  test_minimax (14)  |  test_csp_scheduler (13)  |  test_integration (11)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E5FF"/>
                </a:solidFill>
                <a:latin typeface="Calibri Light"/>
              </a:defRPr>
            </a:pPr>
            <a:r>
              <a:t>CODE STRUCTURE &amp;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20040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FF"/>
                </a:solidFill>
                <a:latin typeface="Calibri"/>
              </a:defRPr>
            </a:pPr>
            <a:r>
              <a:t>Project Structure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sentinelnet/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├── config/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├── network_small.yaml    (20 nodes)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├── network_medium.yaml   (100 nodes)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├── network_large.yaml    (500 nodes)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└── scenarios.yaml        (5 scenarios)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├── sentinelnet/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├── agents/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├── red_attacker.py   (A*)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├── monitor.py        (Bayesian)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├── response.py       (Minimax)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└── patch_scheduler.py (CSP)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├── coordination/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└── message_bus.py    (Blackboard)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├── environment/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├── network_graph.py  (NetworkX)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├── events.py         (Dataclasses)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└── simulator.py      (Tick loop)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├── baselines/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├── random_defender.py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│   └── greedy_defender.py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├── metrics/logger.py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│   └── viz/dashboard.py      (Streamlit)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├── tests/  (57 tests)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├── requirements.txt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BBCCDD"/>
                </a:solidFill>
                <a:latin typeface="Consolas"/>
              </a:defRPr>
            </a:pPr>
            <a:r>
              <a:t>└── README.md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Scalability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Config-driven topology: change YAML → scale graph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20-node (demo) → 100-node → 500-node tested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Random graph generator for arbitrary sizes</a:t>
            </a:r>
          </a:p>
          <a:p>
            <a:pPr>
              <a:spcBef>
                <a:spcPts val="400"/>
              </a:spcBef>
              <a:defRPr sz="1400">
                <a:solidFill>
                  <a:srgbClr val="BBCCDD"/>
                </a:solidFill>
                <a:latin typeface="Calibri"/>
              </a:defRPr>
            </a:pPr>
            <a:r>
              <a:t>Modular architecture: swap/add agents without changing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8BFF"/>
                </a:solidFill>
                <a:latin typeface="Calibri"/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Python 3.11 — Core language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NetworkX — Graph data structures &amp; algorithms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PyYAML — Configuration management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Streamlit — Interactive web dashboard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Pyvis — Network graph visualization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python-constraint — CSP solver (fallback)</a:t>
            </a:r>
          </a:p>
          <a:p>
            <a:pPr>
              <a:spcBef>
                <a:spcPts val="400"/>
              </a:spcBef>
              <a:defRPr sz="1300">
                <a:solidFill>
                  <a:srgbClr val="BBCCDD"/>
                </a:solidFill>
                <a:latin typeface="Calibri"/>
              </a:defRPr>
            </a:pPr>
            <a:r>
              <a:t>pytest — Testing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_17904464073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E5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08960"/>
            <a:ext cx="3017520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 Light"/>
              </a:defRPr>
            </a:pPr>
            <a:r>
              <a:t>Questions &amp;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CCDD"/>
                </a:solidFill>
                <a:latin typeface="Calibri"/>
              </a:defRPr>
            </a:pPr>
            <a:r>
              <a:t>SentinelNet  •  Multi-Agent Adversarial Network Defense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Calibri"/>
              </a:defRPr>
            </a:pPr>
            <a:r>
              <a:t>github.com/surya-8143/FOAI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CCDD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